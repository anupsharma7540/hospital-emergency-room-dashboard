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70" r:id="rId6"/>
    <p:sldId id="262" r:id="rId7"/>
    <p:sldId id="261" r:id="rId8"/>
    <p:sldId id="263" r:id="rId9"/>
    <p:sldId id="264" r:id="rId10"/>
    <p:sldId id="265" r:id="rId11"/>
    <p:sldId id="260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p Sharma" userId="991aba161e122095" providerId="LiveId" clId="{6554222A-5913-40D2-B6E7-66A67E85E175}"/>
    <pc:docChg chg="undo custSel modSld sldOrd">
      <pc:chgData name="Anup Sharma" userId="991aba161e122095" providerId="LiveId" clId="{6554222A-5913-40D2-B6E7-66A67E85E175}" dt="2026-07-15T07:24:44.173" v="42"/>
      <pc:docMkLst>
        <pc:docMk/>
      </pc:docMkLst>
      <pc:sldChg chg="addSp delSp modSp mod">
        <pc:chgData name="Anup Sharma" userId="991aba161e122095" providerId="LiveId" clId="{6554222A-5913-40D2-B6E7-66A67E85E175}" dt="2026-07-15T06:40:03.025" v="22" actId="1076"/>
        <pc:sldMkLst>
          <pc:docMk/>
          <pc:sldMk cId="0" sldId="256"/>
        </pc:sldMkLst>
        <pc:picChg chg="del">
          <ac:chgData name="Anup Sharma" userId="991aba161e122095" providerId="LiveId" clId="{6554222A-5913-40D2-B6E7-66A67E85E175}" dt="2026-07-15T06:39:38.782" v="20" actId="478"/>
          <ac:picMkLst>
            <pc:docMk/>
            <pc:sldMk cId="0" sldId="256"/>
            <ac:picMk id="5" creationId="{41A28081-A979-43AB-B88E-D04D9617A28B}"/>
          </ac:picMkLst>
        </pc:picChg>
        <pc:picChg chg="add mod">
          <ac:chgData name="Anup Sharma" userId="991aba161e122095" providerId="LiveId" clId="{6554222A-5913-40D2-B6E7-66A67E85E175}" dt="2026-07-15T06:40:03.025" v="22" actId="1076"/>
          <ac:picMkLst>
            <pc:docMk/>
            <pc:sldMk cId="0" sldId="256"/>
            <ac:picMk id="6" creationId="{88488DDA-0D54-4BB4-9381-721581310D00}"/>
          </ac:picMkLst>
        </pc:picChg>
      </pc:sldChg>
      <pc:sldChg chg="ord">
        <pc:chgData name="Anup Sharma" userId="991aba161e122095" providerId="LiveId" clId="{6554222A-5913-40D2-B6E7-66A67E85E175}" dt="2026-07-15T07:22:42.225" v="38"/>
        <pc:sldMkLst>
          <pc:docMk/>
          <pc:sldMk cId="0" sldId="257"/>
        </pc:sldMkLst>
      </pc:sldChg>
      <pc:sldChg chg="addSp delSp modSp mod ord">
        <pc:chgData name="Anup Sharma" userId="991aba161e122095" providerId="LiveId" clId="{6554222A-5913-40D2-B6E7-66A67E85E175}" dt="2026-07-15T07:24:44.173" v="42"/>
        <pc:sldMkLst>
          <pc:docMk/>
          <pc:sldMk cId="0" sldId="261"/>
        </pc:sldMkLst>
        <pc:picChg chg="del">
          <ac:chgData name="Anup Sharma" userId="991aba161e122095" providerId="LiveId" clId="{6554222A-5913-40D2-B6E7-66A67E85E175}" dt="2026-07-15T06:40:32.161" v="23" actId="478"/>
          <ac:picMkLst>
            <pc:docMk/>
            <pc:sldMk cId="0" sldId="261"/>
            <ac:picMk id="3" creationId="{00000000-0000-0000-0000-000000000000}"/>
          </ac:picMkLst>
        </pc:picChg>
        <pc:picChg chg="add mod">
          <ac:chgData name="Anup Sharma" userId="991aba161e122095" providerId="LiveId" clId="{6554222A-5913-40D2-B6E7-66A67E85E175}" dt="2026-07-15T06:40:55.014" v="25" actId="1076"/>
          <ac:picMkLst>
            <pc:docMk/>
            <pc:sldMk cId="0" sldId="261"/>
            <ac:picMk id="5" creationId="{0A21F9BC-4403-41EE-95B8-4CACF52C736B}"/>
          </ac:picMkLst>
        </pc:picChg>
      </pc:sldChg>
      <pc:sldChg chg="addSp delSp modSp mod">
        <pc:chgData name="Anup Sharma" userId="991aba161e122095" providerId="LiveId" clId="{6554222A-5913-40D2-B6E7-66A67E85E175}" dt="2026-07-15T06:55:26.497" v="34" actId="478"/>
        <pc:sldMkLst>
          <pc:docMk/>
          <pc:sldMk cId="0" sldId="263"/>
        </pc:sldMkLst>
        <pc:spChg chg="del">
          <ac:chgData name="Anup Sharma" userId="991aba161e122095" providerId="LiveId" clId="{6554222A-5913-40D2-B6E7-66A67E85E175}" dt="2026-07-15T06:55:26.497" v="34" actId="478"/>
          <ac:spMkLst>
            <pc:docMk/>
            <pc:sldMk cId="0" sldId="263"/>
            <ac:spMk id="4" creationId="{00000000-0000-0000-0000-000000000000}"/>
          </ac:spMkLst>
        </pc:spChg>
        <pc:picChg chg="add mod">
          <ac:chgData name="Anup Sharma" userId="991aba161e122095" providerId="LiveId" clId="{6554222A-5913-40D2-B6E7-66A67E85E175}" dt="2026-07-15T06:53:06.459" v="27" actId="931"/>
          <ac:picMkLst>
            <pc:docMk/>
            <pc:sldMk cId="0" sldId="263"/>
            <ac:picMk id="5" creationId="{F7AA49F9-7091-4610-A24F-45460F58DDF8}"/>
          </ac:picMkLst>
        </pc:picChg>
        <pc:picChg chg="del">
          <ac:chgData name="Anup Sharma" userId="991aba161e122095" providerId="LiveId" clId="{6554222A-5913-40D2-B6E7-66A67E85E175}" dt="2026-07-15T06:52:13.946" v="26" actId="478"/>
          <ac:picMkLst>
            <pc:docMk/>
            <pc:sldMk cId="0" sldId="263"/>
            <ac:picMk id="6" creationId="{4D530F10-1EA7-4C41-9B6D-06AA2B313EB0}"/>
          </ac:picMkLst>
        </pc:picChg>
      </pc:sldChg>
      <pc:sldChg chg="addSp delSp modSp mod">
        <pc:chgData name="Anup Sharma" userId="991aba161e122095" providerId="LiveId" clId="{6554222A-5913-40D2-B6E7-66A67E85E175}" dt="2026-07-15T06:55:33.466" v="35" actId="478"/>
        <pc:sldMkLst>
          <pc:docMk/>
          <pc:sldMk cId="0" sldId="264"/>
        </pc:sldMkLst>
        <pc:spChg chg="del">
          <ac:chgData name="Anup Sharma" userId="991aba161e122095" providerId="LiveId" clId="{6554222A-5913-40D2-B6E7-66A67E85E175}" dt="2026-07-15T06:55:33.466" v="35" actId="478"/>
          <ac:spMkLst>
            <pc:docMk/>
            <pc:sldMk cId="0" sldId="264"/>
            <ac:spMk id="4" creationId="{00000000-0000-0000-0000-000000000000}"/>
          </ac:spMkLst>
        </pc:spChg>
        <pc:picChg chg="add mod">
          <ac:chgData name="Anup Sharma" userId="991aba161e122095" providerId="LiveId" clId="{6554222A-5913-40D2-B6E7-66A67E85E175}" dt="2026-07-15T06:54:44.747" v="31" actId="931"/>
          <ac:picMkLst>
            <pc:docMk/>
            <pc:sldMk cId="0" sldId="264"/>
            <ac:picMk id="5" creationId="{9FC4BE9A-F380-4501-B24B-FB72DA411A8F}"/>
          </ac:picMkLst>
        </pc:picChg>
        <pc:picChg chg="add del">
          <ac:chgData name="Anup Sharma" userId="991aba161e122095" providerId="LiveId" clId="{6554222A-5913-40D2-B6E7-66A67E85E175}" dt="2026-07-15T06:54:24.102" v="30" actId="478"/>
          <ac:picMkLst>
            <pc:docMk/>
            <pc:sldMk cId="0" sldId="264"/>
            <ac:picMk id="6" creationId="{C2265F22-FBAF-48AC-9480-1FAFDE8B5DEE}"/>
          </ac:picMkLst>
        </pc:picChg>
      </pc:sldChg>
      <pc:sldChg chg="addSp delSp modSp mod">
        <pc:chgData name="Anup Sharma" userId="991aba161e122095" providerId="LiveId" clId="{6554222A-5913-40D2-B6E7-66A67E85E175}" dt="2026-07-15T06:55:39.760" v="36" actId="478"/>
        <pc:sldMkLst>
          <pc:docMk/>
          <pc:sldMk cId="0" sldId="265"/>
        </pc:sldMkLst>
        <pc:spChg chg="del">
          <ac:chgData name="Anup Sharma" userId="991aba161e122095" providerId="LiveId" clId="{6554222A-5913-40D2-B6E7-66A67E85E175}" dt="2026-07-15T06:55:39.760" v="36" actId="478"/>
          <ac:spMkLst>
            <pc:docMk/>
            <pc:sldMk cId="0" sldId="265"/>
            <ac:spMk id="4" creationId="{00000000-0000-0000-0000-000000000000}"/>
          </ac:spMkLst>
        </pc:spChg>
        <pc:picChg chg="add mod">
          <ac:chgData name="Anup Sharma" userId="991aba161e122095" providerId="LiveId" clId="{6554222A-5913-40D2-B6E7-66A67E85E175}" dt="2026-07-15T06:55:12.353" v="33" actId="931"/>
          <ac:picMkLst>
            <pc:docMk/>
            <pc:sldMk cId="0" sldId="265"/>
            <ac:picMk id="5" creationId="{65CE3006-3872-46A6-B8A9-0878F25EC07E}"/>
          </ac:picMkLst>
        </pc:picChg>
        <pc:picChg chg="del">
          <ac:chgData name="Anup Sharma" userId="991aba161e122095" providerId="LiveId" clId="{6554222A-5913-40D2-B6E7-66A67E85E175}" dt="2026-07-15T06:54:56.735" v="32" actId="478"/>
          <ac:picMkLst>
            <pc:docMk/>
            <pc:sldMk cId="0" sldId="265"/>
            <ac:picMk id="6" creationId="{E40ADA67-67E1-4AF7-9789-7E71F2AEAE03}"/>
          </ac:picMkLst>
        </pc:picChg>
      </pc:sldChg>
      <pc:sldChg chg="modSp mod">
        <pc:chgData name="Anup Sharma" userId="991aba161e122095" providerId="LiveId" clId="{6554222A-5913-40D2-B6E7-66A67E85E175}" dt="2026-07-13T11:14:09.748" v="19" actId="313"/>
        <pc:sldMkLst>
          <pc:docMk/>
          <pc:sldMk cId="883098816" sldId="269"/>
        </pc:sldMkLst>
        <pc:spChg chg="mod">
          <ac:chgData name="Anup Sharma" userId="991aba161e122095" providerId="LiveId" clId="{6554222A-5913-40D2-B6E7-66A67E85E175}" dt="2026-07-13T11:14:09.748" v="19" actId="313"/>
          <ac:spMkLst>
            <pc:docMk/>
            <pc:sldMk cId="883098816" sldId="269"/>
            <ac:spMk id="3" creationId="{BB4B0AB3-C431-2671-D99D-B8DB1A2AE375}"/>
          </ac:spMkLst>
        </pc:spChg>
      </pc:sldChg>
      <pc:sldChg chg="ord">
        <pc:chgData name="Anup Sharma" userId="991aba161e122095" providerId="LiveId" clId="{6554222A-5913-40D2-B6E7-66A67E85E175}" dt="2026-07-15T07:24:14.238" v="40"/>
        <pc:sldMkLst>
          <pc:docMk/>
          <pc:sldMk cId="1804814759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32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105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18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8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346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95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21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95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32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14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5754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402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64215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2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257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72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31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56955"/>
            <a:ext cx="12192000" cy="53788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algn="ctr"/>
            <a:r>
              <a:rPr sz="3200" b="1" dirty="0">
                <a:solidFill>
                  <a:schemeClr val="tx1"/>
                </a:solidFill>
              </a:rPr>
              <a:t>Hospital Emergency Room Management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1524" y="966294"/>
            <a:ext cx="9348952" cy="804589"/>
          </a:xfrm>
        </p:spPr>
        <p:txBody>
          <a:bodyPr>
            <a:normAutofit lnSpcReduction="10000"/>
          </a:bodyPr>
          <a:lstStyle/>
          <a:p>
            <a:pPr algn="ctr"/>
            <a:r>
              <a:rPr sz="2000" dirty="0"/>
              <a:t>Interactive Data Analytics Project Using Microsoft Excel</a:t>
            </a:r>
          </a:p>
          <a:p>
            <a:pPr algn="ctr"/>
            <a:r>
              <a:rPr sz="2000" dirty="0"/>
              <a:t>Prepared by Anup Sharma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488DDA-0D54-4BB4-9381-721581310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23"/>
            <a:ext cx="12192000" cy="50672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Interactive Excel dashboard built from two years of emergency-room patient data.</a:t>
            </a:r>
          </a:p>
          <a:p>
            <a:pPr>
              <a:spcAft>
                <a:spcPts val="1200"/>
              </a:spcAft>
              <a:defRPr sz="2200"/>
            </a:pPr>
            <a:r>
              <a:t>Year and month selections dynamically update KPIs and visual analyses.</a:t>
            </a:r>
          </a:p>
          <a:p>
            <a:pPr>
              <a:spcAft>
                <a:spcPts val="1200"/>
              </a:spcAft>
              <a:defRPr sz="2200"/>
            </a:pPr>
            <a:r>
              <a:t>Combines executive summary reporting with detailed daily drill-down trend pages.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rPr dirty="0"/>
              <a:t>Raw emergency-room records are difficult to interpret quickly.</a:t>
            </a:r>
          </a:p>
          <a:p>
            <a:pPr>
              <a:spcAft>
                <a:spcPts val="1200"/>
              </a:spcAft>
              <a:defRPr sz="2200"/>
            </a:pPr>
            <a:r>
              <a:rPr dirty="0"/>
              <a:t>Management needs visibility into patient volume, waiting time, satisfaction, admissions, timeliness, demographics and referrals.</a:t>
            </a:r>
          </a:p>
          <a:p>
            <a:pPr>
              <a:spcAft>
                <a:spcPts val="1200"/>
              </a:spcAft>
              <a:defRPr sz="2200"/>
            </a:pPr>
            <a:r>
              <a:rPr dirty="0"/>
              <a:t>The solution centralizes these metrics in an interactive analytical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Track patient volume, average wait time and satisfaction score.</a:t>
            </a:r>
          </a:p>
          <a:p>
            <a:pPr>
              <a:spcAft>
                <a:spcPts val="1200"/>
              </a:spcAft>
              <a:defRPr sz="2200"/>
            </a:pPr>
            <a:r>
              <a:t>Analyze gender, age groups, admission status and department referrals.</a:t>
            </a:r>
          </a:p>
          <a:p>
            <a:pPr>
              <a:spcAft>
                <a:spcPts val="1200"/>
              </a:spcAft>
              <a:defRPr sz="2200"/>
            </a:pPr>
            <a:r>
              <a:t>Compare on-time attendance with delays.</a:t>
            </a:r>
          </a:p>
          <a:p>
            <a:pPr>
              <a:spcAft>
                <a:spcPts val="1200"/>
              </a:spcAft>
              <a:defRPr sz="2200"/>
            </a:pPr>
            <a:r>
              <a:t>Enable year/month filtering and daily drill-down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7160D-969A-5485-D9BF-DB4D77AF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FEAA6C-116E-4760-9085-CB5645133B5D}"/>
              </a:ext>
            </a:extLst>
          </p:cNvPr>
          <p:cNvSpPr/>
          <p:nvPr/>
        </p:nvSpPr>
        <p:spPr>
          <a:xfrm>
            <a:off x="2895600" y="1457325"/>
            <a:ext cx="2238375" cy="106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F0B2AFC-5D90-4D15-AD4A-AB91923CD147}"/>
              </a:ext>
            </a:extLst>
          </p:cNvPr>
          <p:cNvSpPr/>
          <p:nvPr/>
        </p:nvSpPr>
        <p:spPr>
          <a:xfrm>
            <a:off x="5272087" y="1457325"/>
            <a:ext cx="2238375" cy="106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BA30AB2-620C-4E2C-8DA2-E433AC34BAB4}"/>
              </a:ext>
            </a:extLst>
          </p:cNvPr>
          <p:cNvSpPr/>
          <p:nvPr/>
        </p:nvSpPr>
        <p:spPr>
          <a:xfrm>
            <a:off x="7662862" y="1457325"/>
            <a:ext cx="2238375" cy="106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56C9E5D-3E3D-4D08-AF9E-247A04809B6D}"/>
              </a:ext>
            </a:extLst>
          </p:cNvPr>
          <p:cNvSpPr/>
          <p:nvPr/>
        </p:nvSpPr>
        <p:spPr>
          <a:xfrm>
            <a:off x="519113" y="1438275"/>
            <a:ext cx="2238375" cy="106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960598B-9703-47D2-ABD4-118A582209D4}"/>
              </a:ext>
            </a:extLst>
          </p:cNvPr>
          <p:cNvSpPr/>
          <p:nvPr/>
        </p:nvSpPr>
        <p:spPr>
          <a:xfrm>
            <a:off x="5272087" y="3413919"/>
            <a:ext cx="2238375" cy="106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F183298-FCAD-4517-95DA-35AA91D8F667}"/>
              </a:ext>
            </a:extLst>
          </p:cNvPr>
          <p:cNvSpPr/>
          <p:nvPr/>
        </p:nvSpPr>
        <p:spPr>
          <a:xfrm>
            <a:off x="7662862" y="3413919"/>
            <a:ext cx="2238375" cy="106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5C933B9-6FE3-41A8-B0A4-293CC5E57A3B}"/>
              </a:ext>
            </a:extLst>
          </p:cNvPr>
          <p:cNvSpPr/>
          <p:nvPr/>
        </p:nvSpPr>
        <p:spPr>
          <a:xfrm>
            <a:off x="519113" y="3394869"/>
            <a:ext cx="2238375" cy="106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3F0F6B4-FC63-475C-9A9D-7BEDDB51397F}"/>
              </a:ext>
            </a:extLst>
          </p:cNvPr>
          <p:cNvSpPr/>
          <p:nvPr/>
        </p:nvSpPr>
        <p:spPr>
          <a:xfrm>
            <a:off x="2895600" y="5256214"/>
            <a:ext cx="2238375" cy="106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8B7982C-942D-4862-BF72-28509AE6B0B4}"/>
              </a:ext>
            </a:extLst>
          </p:cNvPr>
          <p:cNvSpPr/>
          <p:nvPr/>
        </p:nvSpPr>
        <p:spPr>
          <a:xfrm>
            <a:off x="5272087" y="5256214"/>
            <a:ext cx="2238375" cy="106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0C5F492-D557-46D0-8187-B4CFD8922B4D}"/>
              </a:ext>
            </a:extLst>
          </p:cNvPr>
          <p:cNvSpPr/>
          <p:nvPr/>
        </p:nvSpPr>
        <p:spPr>
          <a:xfrm>
            <a:off x="519113" y="5237164"/>
            <a:ext cx="2238375" cy="106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E48D9C-345F-4B3B-8B9C-054E20BC3F93}"/>
              </a:ext>
            </a:extLst>
          </p:cNvPr>
          <p:cNvSpPr txBox="1"/>
          <p:nvPr/>
        </p:nvSpPr>
        <p:spPr>
          <a:xfrm>
            <a:off x="685800" y="1662112"/>
            <a:ext cx="1866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/>
              <a:t>📋 Business Requirement</a:t>
            </a:r>
          </a:p>
          <a:p>
            <a:pPr algn="ctr"/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261227-A65C-4727-A04F-186452F52676}"/>
              </a:ext>
            </a:extLst>
          </p:cNvPr>
          <p:cNvSpPr txBox="1"/>
          <p:nvPr/>
        </p:nvSpPr>
        <p:spPr>
          <a:xfrm>
            <a:off x="3062287" y="1662112"/>
            <a:ext cx="1866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IN" sz="1800" dirty="0"/>
              <a:t>📂 Understand       Dataset</a:t>
            </a:r>
          </a:p>
          <a:p>
            <a:pPr algn="ctr"/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C6482C-F959-42A3-BE90-174C716B82A3}"/>
              </a:ext>
            </a:extLst>
          </p:cNvPr>
          <p:cNvSpPr txBox="1"/>
          <p:nvPr/>
        </p:nvSpPr>
        <p:spPr>
          <a:xfrm>
            <a:off x="5438774" y="1662112"/>
            <a:ext cx="186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IN" sz="1800" dirty="0"/>
              <a:t> Import Data (Power Query)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B0DAC8-CB85-4FD5-A882-EEB02A6B86C5}"/>
              </a:ext>
            </a:extLst>
          </p:cNvPr>
          <p:cNvSpPr txBox="1"/>
          <p:nvPr/>
        </p:nvSpPr>
        <p:spPr>
          <a:xfrm>
            <a:off x="7815263" y="1672232"/>
            <a:ext cx="186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/>
              <a:t>Clean &amp; Validate Data</a:t>
            </a:r>
            <a:endParaRPr lang="en-IN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63530A3-9ECF-4C95-A43E-7F835C9842B9}"/>
              </a:ext>
            </a:extLst>
          </p:cNvPr>
          <p:cNvSpPr/>
          <p:nvPr/>
        </p:nvSpPr>
        <p:spPr>
          <a:xfrm>
            <a:off x="2881313" y="3437731"/>
            <a:ext cx="2238375" cy="10668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2C606E-2FB5-4898-97DC-657402AEB507}"/>
              </a:ext>
            </a:extLst>
          </p:cNvPr>
          <p:cNvSpPr txBox="1"/>
          <p:nvPr/>
        </p:nvSpPr>
        <p:spPr>
          <a:xfrm>
            <a:off x="671513" y="3642518"/>
            <a:ext cx="186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IN" sz="1800" dirty="0"/>
              <a:t>📅 Calendar Table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EA42D7-922A-445D-98EC-7C7AB415B5BD}"/>
              </a:ext>
            </a:extLst>
          </p:cNvPr>
          <p:cNvSpPr txBox="1"/>
          <p:nvPr/>
        </p:nvSpPr>
        <p:spPr>
          <a:xfrm>
            <a:off x="3048000" y="3642518"/>
            <a:ext cx="186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IN" sz="1800" dirty="0"/>
              <a:t>🔄 Data Modeling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519A59-3E53-4F3A-88FC-BC6C37D8D087}"/>
              </a:ext>
            </a:extLst>
          </p:cNvPr>
          <p:cNvSpPr txBox="1"/>
          <p:nvPr/>
        </p:nvSpPr>
        <p:spPr>
          <a:xfrm>
            <a:off x="5424487" y="3642518"/>
            <a:ext cx="186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IN" sz="1800" dirty="0"/>
              <a:t>➕ DAX Measures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BD5A4A-E724-419B-81F0-338B3BB60D82}"/>
              </a:ext>
            </a:extLst>
          </p:cNvPr>
          <p:cNvSpPr txBox="1"/>
          <p:nvPr/>
        </p:nvSpPr>
        <p:spPr>
          <a:xfrm>
            <a:off x="7800976" y="3652638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IN" sz="1800" dirty="0"/>
              <a:t>📊 Pivot Tables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E828F0-081D-43FC-8932-1F23B163F62D}"/>
              </a:ext>
            </a:extLst>
          </p:cNvPr>
          <p:cNvSpPr txBox="1"/>
          <p:nvPr/>
        </p:nvSpPr>
        <p:spPr>
          <a:xfrm>
            <a:off x="671513" y="5526881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IN" sz="1800" dirty="0"/>
              <a:t>📈 Charts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3B1B12-8080-44E6-8B92-5D847F3F7181}"/>
              </a:ext>
            </a:extLst>
          </p:cNvPr>
          <p:cNvSpPr txBox="1"/>
          <p:nvPr/>
        </p:nvSpPr>
        <p:spPr>
          <a:xfrm>
            <a:off x="3048000" y="5526881"/>
            <a:ext cx="186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IN" sz="1800" dirty="0"/>
              <a:t>📑 Dashboard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76A169-E26F-4E6E-94E6-E81D5E5530DD}"/>
              </a:ext>
            </a:extLst>
          </p:cNvPr>
          <p:cNvSpPr txBox="1"/>
          <p:nvPr/>
        </p:nvSpPr>
        <p:spPr>
          <a:xfrm>
            <a:off x="5424487" y="5526881"/>
            <a:ext cx="186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IN" sz="1800" dirty="0"/>
              <a:t>💡 Business   Insights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B1CC5E06-51B8-4E96-B6A9-241395F16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113" y="516204"/>
            <a:ext cx="3675591" cy="6254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 Project Steps</a:t>
            </a:r>
            <a:endParaRPr lang="en-IN" sz="36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B61F336-C6A0-49C2-AAD2-45DA3224C68D}"/>
              </a:ext>
            </a:extLst>
          </p:cNvPr>
          <p:cNvCxnSpPr>
            <a:cxnSpLocks/>
            <a:stCxn id="11" idx="3"/>
            <a:endCxn id="8" idx="1"/>
          </p:cNvCxnSpPr>
          <p:nvPr/>
        </p:nvCxnSpPr>
        <p:spPr>
          <a:xfrm>
            <a:off x="2757488" y="1971675"/>
            <a:ext cx="138112" cy="190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FBE089D-30EA-4B99-A3F1-0F40FEFD24D4}"/>
              </a:ext>
            </a:extLst>
          </p:cNvPr>
          <p:cNvCxnSpPr>
            <a:cxnSpLocks/>
          </p:cNvCxnSpPr>
          <p:nvPr/>
        </p:nvCxnSpPr>
        <p:spPr>
          <a:xfrm>
            <a:off x="5133975" y="1990725"/>
            <a:ext cx="138112" cy="190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35ACFC4-072C-4DE4-BBC6-731659AB8519}"/>
              </a:ext>
            </a:extLst>
          </p:cNvPr>
          <p:cNvCxnSpPr>
            <a:cxnSpLocks/>
          </p:cNvCxnSpPr>
          <p:nvPr/>
        </p:nvCxnSpPr>
        <p:spPr>
          <a:xfrm>
            <a:off x="7510462" y="2009775"/>
            <a:ext cx="138112" cy="190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A299201-7062-46D2-B37E-5C891F35722A}"/>
              </a:ext>
            </a:extLst>
          </p:cNvPr>
          <p:cNvCxnSpPr>
            <a:cxnSpLocks/>
          </p:cNvCxnSpPr>
          <p:nvPr/>
        </p:nvCxnSpPr>
        <p:spPr>
          <a:xfrm>
            <a:off x="2757488" y="3964387"/>
            <a:ext cx="138112" cy="190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C97D53B-2FE3-4EFA-B060-771E4858BB31}"/>
              </a:ext>
            </a:extLst>
          </p:cNvPr>
          <p:cNvCxnSpPr>
            <a:cxnSpLocks/>
          </p:cNvCxnSpPr>
          <p:nvPr/>
        </p:nvCxnSpPr>
        <p:spPr>
          <a:xfrm>
            <a:off x="5133975" y="3983437"/>
            <a:ext cx="138112" cy="190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27B75C5-9F23-41EF-9D1B-AB9DC2B3FE51}"/>
              </a:ext>
            </a:extLst>
          </p:cNvPr>
          <p:cNvCxnSpPr>
            <a:cxnSpLocks/>
          </p:cNvCxnSpPr>
          <p:nvPr/>
        </p:nvCxnSpPr>
        <p:spPr>
          <a:xfrm>
            <a:off x="7510462" y="4002487"/>
            <a:ext cx="138112" cy="190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872A007-07EF-4150-8139-46FC753009B9}"/>
              </a:ext>
            </a:extLst>
          </p:cNvPr>
          <p:cNvCxnSpPr>
            <a:cxnSpLocks/>
          </p:cNvCxnSpPr>
          <p:nvPr/>
        </p:nvCxnSpPr>
        <p:spPr>
          <a:xfrm>
            <a:off x="2757488" y="5770930"/>
            <a:ext cx="138112" cy="190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43DDA79-0784-462A-876B-79E62D8072C4}"/>
              </a:ext>
            </a:extLst>
          </p:cNvPr>
          <p:cNvCxnSpPr>
            <a:cxnSpLocks/>
          </p:cNvCxnSpPr>
          <p:nvPr/>
        </p:nvCxnSpPr>
        <p:spPr>
          <a:xfrm>
            <a:off x="5133975" y="5789980"/>
            <a:ext cx="138112" cy="190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99EF75D-228B-481F-8961-2282C1EEA00F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8782050" y="2524125"/>
            <a:ext cx="0" cy="47311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E72CB28-94E7-4649-9C22-AD414B3279C0}"/>
              </a:ext>
            </a:extLst>
          </p:cNvPr>
          <p:cNvCxnSpPr/>
          <p:nvPr/>
        </p:nvCxnSpPr>
        <p:spPr>
          <a:xfrm flipH="1">
            <a:off x="1638299" y="2997237"/>
            <a:ext cx="1" cy="40005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07C2737-D3E6-4120-B9AB-52786E1C7197}"/>
              </a:ext>
            </a:extLst>
          </p:cNvPr>
          <p:cNvCxnSpPr>
            <a:cxnSpLocks/>
          </p:cNvCxnSpPr>
          <p:nvPr/>
        </p:nvCxnSpPr>
        <p:spPr>
          <a:xfrm flipH="1">
            <a:off x="1638300" y="2997237"/>
            <a:ext cx="714374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6E1CC4D-5FF2-46C4-9536-0CCA6C05050B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8782050" y="4480719"/>
            <a:ext cx="1" cy="3871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46D6425-5213-4644-AF54-4652AA1158A3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1638301" y="4867908"/>
            <a:ext cx="2" cy="3692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9254F20-AC71-4B8C-89C7-D7188CD05DB3}"/>
              </a:ext>
            </a:extLst>
          </p:cNvPr>
          <p:cNvCxnSpPr>
            <a:cxnSpLocks/>
          </p:cNvCxnSpPr>
          <p:nvPr/>
        </p:nvCxnSpPr>
        <p:spPr>
          <a:xfrm flipH="1">
            <a:off x="1638301" y="4867908"/>
            <a:ext cx="714374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814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Analysis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rPr b="1" dirty="0">
                <a:solidFill>
                  <a:schemeClr val="tx1"/>
                </a:solidFill>
              </a:rPr>
              <a:t>KPIs: </a:t>
            </a:r>
            <a:r>
              <a:rPr dirty="0"/>
              <a:t>Total Patients, Average Wait Time, Patient Satisfaction Score</a:t>
            </a:r>
          </a:p>
          <a:p>
            <a:pPr>
              <a:spcAft>
                <a:spcPts val="1200"/>
              </a:spcAft>
              <a:defRPr sz="2200"/>
            </a:pPr>
            <a:r>
              <a:rPr b="1" dirty="0"/>
              <a:t>Demographics: </a:t>
            </a:r>
            <a:r>
              <a:rPr dirty="0"/>
              <a:t>Gender and Age Group distribution</a:t>
            </a:r>
          </a:p>
          <a:p>
            <a:pPr>
              <a:spcAft>
                <a:spcPts val="1200"/>
              </a:spcAft>
              <a:defRPr sz="2200"/>
            </a:pPr>
            <a:r>
              <a:rPr b="1" dirty="0"/>
              <a:t>Operations: </a:t>
            </a:r>
            <a:r>
              <a:rPr dirty="0"/>
              <a:t>On Time vs Delay and Admission Status</a:t>
            </a:r>
          </a:p>
          <a:p>
            <a:pPr>
              <a:spcAft>
                <a:spcPts val="1200"/>
              </a:spcAft>
              <a:defRPr sz="2200"/>
            </a:pPr>
            <a:r>
              <a:rPr b="1" dirty="0"/>
              <a:t>Referral Analysis: </a:t>
            </a:r>
            <a:r>
              <a:rPr dirty="0"/>
              <a:t>Patient counts by department</a:t>
            </a:r>
          </a:p>
          <a:p>
            <a:pPr>
              <a:spcAft>
                <a:spcPts val="1200"/>
              </a:spcAft>
              <a:defRPr sz="2200"/>
            </a:pPr>
            <a:r>
              <a:rPr b="1" dirty="0"/>
              <a:t>Dynamic interaction: </a:t>
            </a:r>
            <a:r>
              <a:rPr dirty="0"/>
              <a:t>Year and Month selection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780"/>
            <a:ext cx="5867400" cy="753745"/>
          </a:xfrm>
        </p:spPr>
        <p:txBody>
          <a:bodyPr/>
          <a:lstStyle/>
          <a:p>
            <a:r>
              <a:rPr dirty="0"/>
              <a:t>Main Interactive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1F9BC-4403-41EE-95B8-4CACF52C7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9661"/>
            <a:ext cx="12192000" cy="50672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99720"/>
            <a:ext cx="8596668" cy="660400"/>
          </a:xfrm>
        </p:spPr>
        <p:txBody>
          <a:bodyPr/>
          <a:lstStyle/>
          <a:p>
            <a:r>
              <a:rPr dirty="0"/>
              <a:t>Daily Patient Visit Trend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AA49F9-7091-4610-A24F-45460F58D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4" y="1001819"/>
            <a:ext cx="12132091" cy="48543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57175"/>
            <a:ext cx="8596668" cy="823353"/>
          </a:xfrm>
        </p:spPr>
        <p:txBody>
          <a:bodyPr/>
          <a:lstStyle/>
          <a:p>
            <a:r>
              <a:rPr dirty="0"/>
              <a:t>Daily Average Wait Time Trend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C4BE9A-F380-4501-B24B-FB72DA411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4" y="1020871"/>
            <a:ext cx="12139712" cy="48162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57175"/>
            <a:ext cx="8596668" cy="755901"/>
          </a:xfrm>
        </p:spPr>
        <p:txBody>
          <a:bodyPr/>
          <a:lstStyle/>
          <a:p>
            <a:r>
              <a:rPr dirty="0"/>
              <a:t>Daily Satisfaction Score Trend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E3006-3872-46A6-B8A9-0878F25EC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4" y="1020871"/>
            <a:ext cx="12132091" cy="48162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E4DFB-C367-0364-A5F1-CD8E88AA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IN"/>
              <a:t>Charts to Create: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A765C9-448A-F0A4-38A7-75D7CE4EE5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7757" y="1971347"/>
            <a:ext cx="5962785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Admission Status: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Show how many patients were admitted vs. not admitted.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 Age Distribution: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Group patients by age.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Timeliness: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Measure the percentage of patients seen within 30 minutes.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Gender Analysis: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Display the number of patients by gender.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Department Referrals: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Check which departments patients are referred to the most.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125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Interactivity &amp;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Selecting a year and month changes all dashboard metrics and charts.</a:t>
            </a:r>
          </a:p>
          <a:p>
            <a:pPr>
              <a:spcAft>
                <a:spcPts val="1200"/>
              </a:spcAft>
              <a:defRPr sz="2200"/>
            </a:pPr>
            <a:r>
              <a:t>KPI-linked detailed pages provide daily trend analysis.</a:t>
            </a:r>
          </a:p>
          <a:p>
            <a:pPr>
              <a:spcAft>
                <a:spcPts val="1200"/>
              </a:spcAft>
              <a:defRPr sz="2200"/>
            </a:pPr>
            <a:r>
              <a:t>Home buttons allow quick navigation back to the main dashboard.</a:t>
            </a:r>
          </a:p>
          <a:p>
            <a:pPr>
              <a:spcAft>
                <a:spcPts val="1200"/>
              </a:spcAft>
              <a:defRPr sz="2200"/>
            </a:pPr>
            <a:r>
              <a:t>The design supports both summary monitoring and detailed exploration.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7160D-969A-5485-D9BF-DB4D77AF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EE70A-C07F-E089-8C69-A32415E88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Calendar Table Formula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44814-2876-DEC6-1228-6C9326B71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779397"/>
            <a:ext cx="10862522" cy="1925953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3200" dirty="0"/>
              <a:t>= List.Dates(#date(2023,01,01),731,#duration(1,0,0,0))</a:t>
            </a:r>
            <a:endParaRPr lang="en-US" sz="3200" dirty="0"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793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2A8D9-04ED-FCC6-7C3B-C15F6982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DAX Formulas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B0AB3-C431-2671-D99D-B8DB1A2AE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1" y="2364378"/>
            <a:ext cx="10794450" cy="3124658"/>
          </a:xfrm>
        </p:spPr>
        <p:txBody>
          <a:bodyPr anchor="ctr">
            <a:normAutofit fontScale="4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3800" dirty="0"/>
              <a:t>DAX Formula for Age Group : </a:t>
            </a:r>
            <a:endParaRPr lang="en-US" sz="38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800" dirty="0">
                <a:effectLst/>
                <a:latin typeface="Microsoft Sans Serif" panose="020B0604020202020204" pitchFamily="34" charset="0"/>
              </a:rPr>
              <a:t>=IF([Patient Age]&gt;=70,"70-79",IF([Patient Age]&gt;=60,"60-69",IF([Patient Age]&gt;=45,"45-59",IF([Patient Age]&gt;=30,"30-44",IF([Patient Age]&gt;=15,"15-29",IF([Patient Age]&gt;=5,"05-14","0-4"))))))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effectLst/>
              <a:latin typeface="Microsoft Sans Serif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800" dirty="0">
                <a:latin typeface="Microsoft Sans Serif" panose="020B0604020202020204" pitchFamily="34" charset="0"/>
              </a:rPr>
              <a:t>DAX Formula For Patient Attend Status :</a:t>
            </a:r>
            <a:endParaRPr lang="en-US" sz="3800" dirty="0">
              <a:effectLst/>
              <a:latin typeface="Microsoft Sans Serif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800" dirty="0">
                <a:effectLst/>
                <a:latin typeface="Microsoft Sans Serif" panose="020B0604020202020204" pitchFamily="34" charset="0"/>
              </a:rPr>
              <a:t>=</a:t>
            </a:r>
            <a:r>
              <a:rPr lang="en-US" sz="3800" dirty="0">
                <a:solidFill>
                  <a:srgbClr val="008000"/>
                </a:solidFill>
                <a:effectLst/>
                <a:latin typeface="Microsoft Sans Serif" panose="020B0604020202020204" pitchFamily="34" charset="0"/>
              </a:rPr>
              <a:t>IF</a:t>
            </a:r>
            <a:r>
              <a:rPr lang="en-US" sz="3800" dirty="0">
                <a:effectLst/>
                <a:latin typeface="Microsoft Sans Serif" panose="020B0604020202020204" pitchFamily="34" charset="0"/>
              </a:rPr>
              <a:t>([Patient Waittime]&lt;30,</a:t>
            </a:r>
            <a:r>
              <a:rPr lang="en-US" sz="38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"Within Time"</a:t>
            </a:r>
            <a:r>
              <a:rPr lang="en-US" sz="3800" dirty="0">
                <a:effectLst/>
                <a:latin typeface="Microsoft Sans Serif" panose="020B0604020202020204" pitchFamily="34" charset="0"/>
              </a:rPr>
              <a:t>,</a:t>
            </a:r>
            <a:r>
              <a:rPr lang="en-US" sz="3800" dirty="0">
                <a:solidFill>
                  <a:srgbClr val="A31515"/>
                </a:solidFill>
                <a:effectLst/>
                <a:latin typeface="Microsoft Sans Serif" panose="020B0604020202020204" pitchFamily="34" charset="0"/>
              </a:rPr>
              <a:t>"Delay"</a:t>
            </a:r>
            <a:r>
              <a:rPr lang="en-US" sz="3800" dirty="0">
                <a:effectLst/>
                <a:latin typeface="Microsoft Sans Serif" panose="020B0604020202020204" pitchFamily="34" charset="0"/>
              </a:rPr>
              <a:t>)</a:t>
            </a:r>
            <a:endParaRPr lang="en-US" sz="3800" dirty="0">
              <a:latin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30988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113</TotalTime>
  <Words>446</Words>
  <Application>Microsoft Office PowerPoint</Application>
  <PresentationFormat>Widescreen</PresentationFormat>
  <Paragraphs>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Microsoft Sans Serif</vt:lpstr>
      <vt:lpstr>Trebuchet MS</vt:lpstr>
      <vt:lpstr>Wingdings 3</vt:lpstr>
      <vt:lpstr>Facet</vt:lpstr>
      <vt:lpstr>Hospital Emergency Room Management Dashboard</vt:lpstr>
      <vt:lpstr>Project Overview</vt:lpstr>
      <vt:lpstr>Problem Statement</vt:lpstr>
      <vt:lpstr>Project Objectives</vt:lpstr>
      <vt:lpstr>PowerPoint Presentation</vt:lpstr>
      <vt:lpstr>Dashboard Analysis Modules</vt:lpstr>
      <vt:lpstr>Main Interactive Dashboard</vt:lpstr>
      <vt:lpstr>Daily Patient Visit Trend</vt:lpstr>
      <vt:lpstr>Daily Average Wait Time Trend</vt:lpstr>
      <vt:lpstr>Daily Satisfaction Score Trend</vt:lpstr>
      <vt:lpstr>Charts to Create:</vt:lpstr>
      <vt:lpstr>Interactivity &amp; Navigation</vt:lpstr>
      <vt:lpstr>Calendar Table Formula</vt:lpstr>
      <vt:lpstr>DAX Formulas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Emergency Room Management Dashboard</dc:title>
  <dc:subject/>
  <dc:creator>asus</dc:creator>
  <cp:keywords/>
  <dc:description>generated using python-pptx</dc:description>
  <cp:lastModifiedBy>Anup Sharma</cp:lastModifiedBy>
  <cp:revision>11</cp:revision>
  <dcterms:created xsi:type="dcterms:W3CDTF">2013-01-27T09:14:16Z</dcterms:created>
  <dcterms:modified xsi:type="dcterms:W3CDTF">2026-07-15T07:27:26Z</dcterms:modified>
  <cp:category/>
</cp:coreProperties>
</file>